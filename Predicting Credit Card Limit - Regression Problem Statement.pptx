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A529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22C4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A529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22C4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A529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22C4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A529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22C4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22C4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54640" y="0"/>
            <a:ext cx="1648968" cy="10332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648" y="309194"/>
            <a:ext cx="11512702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A529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24081" y="2486532"/>
            <a:ext cx="8016875" cy="3291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35511" y="6430408"/>
            <a:ext cx="165100" cy="235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22C4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2689" y="2863418"/>
            <a:ext cx="7244715" cy="838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300" b="1" spc="-225" dirty="0">
                <a:solidFill>
                  <a:srgbClr val="F3F3F3"/>
                </a:solidFill>
                <a:latin typeface="Verdana"/>
                <a:cs typeface="Verdana"/>
              </a:rPr>
              <a:t>General</a:t>
            </a:r>
            <a:r>
              <a:rPr sz="5300" b="1" spc="-235" dirty="0">
                <a:solidFill>
                  <a:srgbClr val="F3F3F3"/>
                </a:solidFill>
                <a:latin typeface="Verdana"/>
                <a:cs typeface="Verdana"/>
              </a:rPr>
              <a:t> </a:t>
            </a:r>
            <a:r>
              <a:rPr sz="5300" b="1" spc="-275" dirty="0">
                <a:solidFill>
                  <a:srgbClr val="F3F3F3"/>
                </a:solidFill>
                <a:latin typeface="Verdana"/>
                <a:cs typeface="Verdana"/>
              </a:rPr>
              <a:t>Instructions</a:t>
            </a:r>
            <a:endParaRPr sz="5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985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54640" y="0"/>
            <a:ext cx="1648968" cy="103327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1000" y="2365440"/>
            <a:ext cx="11646408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Predicting Credit Card Limit Using Linear Regression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1463802" y="6491566"/>
            <a:ext cx="97281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b="1" dirty="0">
                <a:solidFill>
                  <a:srgbClr val="222C46"/>
                </a:solidFill>
                <a:latin typeface="Arial"/>
                <a:cs typeface="Arial"/>
              </a:rPr>
              <a:t>Data</a:t>
            </a:r>
            <a:r>
              <a:rPr sz="1200" b="1" spc="-20" dirty="0">
                <a:solidFill>
                  <a:srgbClr val="222C46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22C46"/>
                </a:solidFill>
                <a:latin typeface="Arial"/>
                <a:cs typeface="Arial"/>
              </a:rPr>
              <a:t>Science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648" y="309194"/>
            <a:ext cx="11512702" cy="642226"/>
          </a:xfrm>
          <a:prstGeom prst="rect">
            <a:avLst/>
          </a:prstGeom>
        </p:spPr>
        <p:txBody>
          <a:bodyPr vert="horz" wrap="square" lIns="0" tIns="148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spc="-135" dirty="0"/>
              <a:t>Problem Statement</a:t>
            </a:r>
            <a:endParaRPr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1463802" y="6491566"/>
            <a:ext cx="97281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b="1" dirty="0">
                <a:solidFill>
                  <a:srgbClr val="222C46"/>
                </a:solidFill>
                <a:latin typeface="Arial"/>
                <a:cs typeface="Arial"/>
              </a:rPr>
              <a:t>Data</a:t>
            </a:r>
            <a:r>
              <a:rPr sz="1200" b="1" spc="-20" dirty="0">
                <a:solidFill>
                  <a:srgbClr val="222C46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22C46"/>
                </a:solidFill>
                <a:latin typeface="Arial"/>
                <a:cs typeface="Arial"/>
              </a:rPr>
              <a:t>Science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1058" y="1077402"/>
            <a:ext cx="10738357" cy="17627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200000"/>
              </a:lnSpc>
              <a:spcBef>
                <a:spcPts val="90"/>
              </a:spcBef>
              <a:buClr>
                <a:srgbClr val="3891A7"/>
              </a:buClr>
              <a:buSzPct val="70000"/>
              <a:tabLst>
                <a:tab pos="426720" algn="l"/>
              </a:tabLst>
            </a:pPr>
            <a:r>
              <a:rPr lang="en-US" sz="2000" spc="-85" dirty="0">
                <a:latin typeface="Arial MT"/>
                <a:cs typeface="Arial MT"/>
              </a:rPr>
              <a:t>  </a:t>
            </a:r>
            <a:r>
              <a:rPr lang="en-US" sz="2000" dirty="0"/>
              <a:t>A financial institution that issues credit cards wants to understand and predict how much credit limit should be granted to each customer based on their demographic and financial characteristics.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63136-CF9B-2291-A8EE-B407B0728BBF}"/>
              </a:ext>
            </a:extLst>
          </p:cNvPr>
          <p:cNvSpPr txBox="1"/>
          <p:nvPr/>
        </p:nvSpPr>
        <p:spPr>
          <a:xfrm>
            <a:off x="339648" y="3327367"/>
            <a:ext cx="116237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Currently, credit limits are often assigned using broad policies or manual reviews, which may not accurately reflect a customer’s true repayment ability or creditworthiness.</a:t>
            </a:r>
          </a:p>
          <a:p>
            <a:pPr>
              <a:buNone/>
            </a:pPr>
            <a:br>
              <a:rPr lang="en-US" sz="2000" dirty="0"/>
            </a:br>
            <a:r>
              <a:rPr lang="en-US" sz="2000" dirty="0"/>
              <a:t>This can lead to:</a:t>
            </a:r>
          </a:p>
          <a:p>
            <a:pPr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Underestimation of limits, reducing customer satisfaction and usage, 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Overestimation of limits, increasing the risk of default and financial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1463802" y="6491566"/>
            <a:ext cx="97281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b="1" dirty="0">
                <a:solidFill>
                  <a:srgbClr val="222C46"/>
                </a:solidFill>
                <a:latin typeface="Arial"/>
                <a:cs typeface="Arial"/>
              </a:rPr>
              <a:t>Data</a:t>
            </a:r>
            <a:r>
              <a:rPr sz="1200" b="1" spc="-20" dirty="0">
                <a:solidFill>
                  <a:srgbClr val="222C46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22C46"/>
                </a:solidFill>
                <a:latin typeface="Arial"/>
                <a:cs typeface="Arial"/>
              </a:rPr>
              <a:t>Science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334272-086D-5852-64DB-A3EB53E44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38771"/>
            <a:ext cx="10972800" cy="59804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30" dirty="0"/>
              <a:t>Task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60911" y="6430408"/>
            <a:ext cx="108585" cy="23558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680" dirty="0">
                <a:solidFill>
                  <a:srgbClr val="222C46"/>
                </a:solidFill>
                <a:latin typeface="Arial MT"/>
                <a:cs typeface="Arial MT"/>
              </a:rPr>
              <a:t>6</a:t>
            </a:r>
            <a:r>
              <a:rPr sz="1200" spc="-35" dirty="0">
                <a:solidFill>
                  <a:srgbClr val="212C46"/>
                </a:solidFill>
                <a:latin typeface="Trebuchet MS"/>
                <a:cs typeface="Trebuchet MS"/>
              </a:rPr>
              <a:t>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3166" y="6491566"/>
            <a:ext cx="975360" cy="210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800" b="1" spc="-1312" baseline="-4629" dirty="0">
                <a:solidFill>
                  <a:srgbClr val="212C46"/>
                </a:solidFill>
                <a:latin typeface="Arial"/>
                <a:cs typeface="Arial"/>
              </a:rPr>
              <a:t>D</a:t>
            </a:r>
            <a:r>
              <a:rPr sz="1200" b="1" spc="-20" dirty="0">
                <a:solidFill>
                  <a:srgbClr val="222C46"/>
                </a:solidFill>
                <a:latin typeface="Arial"/>
                <a:cs typeface="Arial"/>
              </a:rPr>
              <a:t>D</a:t>
            </a:r>
            <a:r>
              <a:rPr sz="1800" b="1" spc="-1012" baseline="-4629" dirty="0">
                <a:solidFill>
                  <a:srgbClr val="212C46"/>
                </a:solidFill>
                <a:latin typeface="Arial"/>
                <a:cs typeface="Arial"/>
              </a:rPr>
              <a:t>a</a:t>
            </a:r>
            <a:r>
              <a:rPr sz="1200" b="1" spc="-10" dirty="0">
                <a:solidFill>
                  <a:srgbClr val="222C46"/>
                </a:solidFill>
                <a:latin typeface="Arial"/>
                <a:cs typeface="Arial"/>
              </a:rPr>
              <a:t>a</a:t>
            </a:r>
            <a:r>
              <a:rPr sz="1200" b="1" spc="-409" dirty="0">
                <a:solidFill>
                  <a:srgbClr val="222C46"/>
                </a:solidFill>
                <a:latin typeface="Arial"/>
                <a:cs typeface="Arial"/>
              </a:rPr>
              <a:t>t</a:t>
            </a:r>
            <a:r>
              <a:rPr sz="1800" b="1" spc="-7" baseline="-4629" dirty="0">
                <a:solidFill>
                  <a:srgbClr val="212C46"/>
                </a:solidFill>
                <a:latin typeface="Arial"/>
                <a:cs typeface="Arial"/>
              </a:rPr>
              <a:t>t</a:t>
            </a:r>
            <a:r>
              <a:rPr sz="1200" b="1" spc="-680" dirty="0">
                <a:solidFill>
                  <a:srgbClr val="222C46"/>
                </a:solidFill>
                <a:latin typeface="Arial"/>
                <a:cs typeface="Arial"/>
              </a:rPr>
              <a:t>a</a:t>
            </a:r>
            <a:r>
              <a:rPr sz="1800" b="1" spc="-15" baseline="-4629" dirty="0">
                <a:solidFill>
                  <a:srgbClr val="212C46"/>
                </a:solidFill>
                <a:latin typeface="Arial"/>
                <a:cs typeface="Arial"/>
              </a:rPr>
              <a:t>a</a:t>
            </a:r>
            <a:r>
              <a:rPr sz="1800" b="1" spc="22" baseline="-4629" dirty="0">
                <a:solidFill>
                  <a:srgbClr val="212C46"/>
                </a:solidFill>
                <a:latin typeface="Arial"/>
                <a:cs typeface="Arial"/>
              </a:rPr>
              <a:t> </a:t>
            </a:r>
            <a:r>
              <a:rPr sz="1200" b="1" spc="-810" dirty="0">
                <a:solidFill>
                  <a:srgbClr val="222C46"/>
                </a:solidFill>
                <a:latin typeface="Arial"/>
                <a:cs typeface="Arial"/>
              </a:rPr>
              <a:t>S</a:t>
            </a:r>
            <a:r>
              <a:rPr sz="1800" b="1" spc="-37" baseline="-4629" dirty="0">
                <a:solidFill>
                  <a:srgbClr val="212C46"/>
                </a:solidFill>
                <a:latin typeface="Arial"/>
                <a:cs typeface="Arial"/>
              </a:rPr>
              <a:t>S</a:t>
            </a:r>
            <a:r>
              <a:rPr sz="1200" b="1" spc="-675" dirty="0">
                <a:solidFill>
                  <a:srgbClr val="222C46"/>
                </a:solidFill>
                <a:latin typeface="Arial"/>
                <a:cs typeface="Arial"/>
              </a:rPr>
              <a:t>c</a:t>
            </a:r>
            <a:r>
              <a:rPr sz="1800" b="1" spc="-30" baseline="-4629" dirty="0">
                <a:solidFill>
                  <a:srgbClr val="212C46"/>
                </a:solidFill>
                <a:latin typeface="Arial"/>
                <a:cs typeface="Arial"/>
              </a:rPr>
              <a:t>c</a:t>
            </a:r>
            <a:r>
              <a:rPr sz="1200" b="1" spc="-345" dirty="0">
                <a:solidFill>
                  <a:srgbClr val="222C46"/>
                </a:solidFill>
                <a:latin typeface="Arial"/>
                <a:cs typeface="Arial"/>
              </a:rPr>
              <a:t>i</a:t>
            </a:r>
            <a:r>
              <a:rPr sz="1800" b="1" spc="-37" baseline="-4629" dirty="0">
                <a:solidFill>
                  <a:srgbClr val="212C46"/>
                </a:solidFill>
                <a:latin typeface="Arial"/>
                <a:cs typeface="Arial"/>
              </a:rPr>
              <a:t>i</a:t>
            </a:r>
            <a:r>
              <a:rPr sz="1200" b="1" spc="-670" dirty="0">
                <a:solidFill>
                  <a:srgbClr val="222C46"/>
                </a:solidFill>
                <a:latin typeface="Arial"/>
                <a:cs typeface="Arial"/>
              </a:rPr>
              <a:t>e</a:t>
            </a:r>
            <a:r>
              <a:rPr sz="1800" b="1" spc="-30" baseline="-4629" dirty="0">
                <a:solidFill>
                  <a:srgbClr val="212C46"/>
                </a:solidFill>
                <a:latin typeface="Arial"/>
                <a:cs typeface="Arial"/>
              </a:rPr>
              <a:t>e</a:t>
            </a:r>
            <a:r>
              <a:rPr sz="1200" b="1" spc="-740" dirty="0">
                <a:solidFill>
                  <a:srgbClr val="222C46"/>
                </a:solidFill>
                <a:latin typeface="Arial"/>
                <a:cs typeface="Arial"/>
              </a:rPr>
              <a:t>n</a:t>
            </a:r>
            <a:r>
              <a:rPr sz="1800" b="1" spc="-60" baseline="-4629" dirty="0">
                <a:solidFill>
                  <a:srgbClr val="212C46"/>
                </a:solidFill>
                <a:latin typeface="Arial"/>
                <a:cs typeface="Arial"/>
              </a:rPr>
              <a:t>n</a:t>
            </a:r>
            <a:r>
              <a:rPr sz="1200" b="1" spc="-665" dirty="0">
                <a:solidFill>
                  <a:srgbClr val="222C46"/>
                </a:solidFill>
                <a:latin typeface="Arial"/>
                <a:cs typeface="Arial"/>
              </a:rPr>
              <a:t>c</a:t>
            </a:r>
            <a:r>
              <a:rPr sz="1800" b="1" spc="-37" baseline="-4629" dirty="0">
                <a:solidFill>
                  <a:srgbClr val="212C46"/>
                </a:solidFill>
                <a:latin typeface="Arial"/>
                <a:cs typeface="Arial"/>
              </a:rPr>
              <a:t>c</a:t>
            </a:r>
            <a:r>
              <a:rPr sz="1200" b="1" spc="-665" dirty="0">
                <a:solidFill>
                  <a:srgbClr val="222C46"/>
                </a:solidFill>
                <a:latin typeface="Arial"/>
                <a:cs typeface="Arial"/>
              </a:rPr>
              <a:t>e</a:t>
            </a:r>
            <a:r>
              <a:rPr sz="1800" b="1" spc="-15" baseline="-4629" dirty="0">
                <a:solidFill>
                  <a:srgbClr val="212C46"/>
                </a:solidFill>
                <a:latin typeface="Arial"/>
                <a:cs typeface="Arial"/>
              </a:rPr>
              <a:t>e</a:t>
            </a:r>
            <a:endParaRPr sz="1800" baseline="-4629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1219200"/>
            <a:ext cx="7162800" cy="402482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  <a:buClr>
                <a:srgbClr val="3891A7"/>
              </a:buClr>
              <a:buSzPct val="115000"/>
              <a:tabLst>
                <a:tab pos="469265" algn="l"/>
              </a:tabLst>
            </a:pPr>
            <a:endParaRPr sz="20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805"/>
              </a:spcBef>
              <a:buClr>
                <a:srgbClr val="3891A7"/>
              </a:buClr>
              <a:buSzPct val="115000"/>
              <a:buFont typeface="Wingdings"/>
              <a:buChar char=""/>
              <a:tabLst>
                <a:tab pos="469265" algn="l"/>
              </a:tabLst>
            </a:pPr>
            <a:r>
              <a:rPr sz="2000" spc="-100" dirty="0">
                <a:latin typeface="Arial MT"/>
                <a:cs typeface="Arial MT"/>
              </a:rPr>
              <a:t>Understanding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75" dirty="0">
                <a:latin typeface="Arial MT"/>
                <a:cs typeface="Arial MT"/>
              </a:rPr>
              <a:t>about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the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data</a:t>
            </a:r>
            <a:r>
              <a:rPr lang="en-US" sz="2000" spc="-20" dirty="0">
                <a:latin typeface="Arial MT"/>
                <a:cs typeface="Arial MT"/>
              </a:rPr>
              <a:t> using Preliminary Analysis (info(),describe() etc.)</a:t>
            </a:r>
            <a:endParaRPr sz="20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800"/>
              </a:spcBef>
              <a:buClr>
                <a:srgbClr val="3891A7"/>
              </a:buClr>
              <a:buSzPct val="115000"/>
              <a:buFont typeface="Wingdings"/>
              <a:buChar char=""/>
              <a:tabLst>
                <a:tab pos="469265" algn="l"/>
              </a:tabLst>
            </a:pPr>
            <a:r>
              <a:rPr sz="2000" spc="-85" dirty="0">
                <a:latin typeface="Arial MT"/>
                <a:cs typeface="Arial MT"/>
              </a:rPr>
              <a:t>Data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pre-</a:t>
            </a:r>
            <a:r>
              <a:rPr sz="2000" spc="-25" dirty="0">
                <a:latin typeface="Arial MT"/>
                <a:cs typeface="Arial MT"/>
              </a:rPr>
              <a:t>processing</a:t>
            </a:r>
            <a:endParaRPr sz="20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805"/>
              </a:spcBef>
              <a:buClr>
                <a:srgbClr val="3891A7"/>
              </a:buClr>
              <a:buSzPct val="115000"/>
              <a:buFont typeface="Wingdings"/>
              <a:buChar char=""/>
              <a:tabLst>
                <a:tab pos="469265" algn="l"/>
              </a:tabLst>
            </a:pPr>
            <a:r>
              <a:rPr sz="2000" spc="-45" dirty="0">
                <a:latin typeface="Arial MT"/>
                <a:cs typeface="Arial MT"/>
              </a:rPr>
              <a:t>Exploratory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data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analysis</a:t>
            </a:r>
            <a:endParaRPr lang="en-US" sz="2000" spc="-45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805"/>
              </a:spcBef>
              <a:buClr>
                <a:srgbClr val="3891A7"/>
              </a:buClr>
              <a:buSzPct val="115000"/>
              <a:buFont typeface="Wingdings"/>
              <a:buChar char=""/>
              <a:tabLst>
                <a:tab pos="469265" algn="l"/>
              </a:tabLst>
            </a:pPr>
            <a:r>
              <a:rPr lang="en-US" sz="2000" spc="-45" dirty="0">
                <a:latin typeface="Arial MT"/>
                <a:cs typeface="Arial MT"/>
              </a:rPr>
              <a:t>Model Building</a:t>
            </a:r>
          </a:p>
          <a:p>
            <a:pPr marL="469265" indent="-456565">
              <a:lnSpc>
                <a:spcPct val="100000"/>
              </a:lnSpc>
              <a:spcBef>
                <a:spcPts val="1805"/>
              </a:spcBef>
              <a:buClr>
                <a:srgbClr val="3891A7"/>
              </a:buClr>
              <a:buSzPct val="115000"/>
              <a:buFont typeface="Wingdings"/>
              <a:buChar char=""/>
              <a:tabLst>
                <a:tab pos="469265" algn="l"/>
              </a:tabLst>
            </a:pPr>
            <a:r>
              <a:rPr lang="en-US" sz="2000" spc="-45" dirty="0">
                <a:latin typeface="Arial MT"/>
                <a:cs typeface="Arial MT"/>
              </a:rPr>
              <a:t>Model Evaluation</a:t>
            </a:r>
            <a:endParaRPr sz="20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800"/>
              </a:spcBef>
              <a:buClr>
                <a:srgbClr val="3891A7"/>
              </a:buClr>
              <a:buSzPct val="115000"/>
              <a:buFont typeface="Wingdings"/>
              <a:buChar char=""/>
              <a:tabLst>
                <a:tab pos="469265" algn="l"/>
              </a:tabLst>
            </a:pPr>
            <a:r>
              <a:rPr sz="2000" spc="-80" dirty="0">
                <a:latin typeface="Arial MT"/>
                <a:cs typeface="Arial MT"/>
              </a:rPr>
              <a:t>Observations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0" dirty="0">
                <a:latin typeface="Arial MT"/>
                <a:cs typeface="Arial MT"/>
              </a:rPr>
              <a:t>key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0" dirty="0">
                <a:latin typeface="Arial MT"/>
                <a:cs typeface="Arial MT"/>
              </a:rPr>
              <a:t>findings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46693" y="5642559"/>
            <a:ext cx="3133725" cy="6146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50" b="1" spc="-130" dirty="0">
                <a:solidFill>
                  <a:srgbClr val="FFFFFF"/>
                </a:solidFill>
                <a:latin typeface="Verdana"/>
                <a:cs typeface="Verdana"/>
              </a:rPr>
              <a:t>THANK</a:t>
            </a:r>
            <a:r>
              <a:rPr sz="3850" b="1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850" b="1" spc="-90" dirty="0">
                <a:solidFill>
                  <a:srgbClr val="FFFFFF"/>
                </a:solidFill>
                <a:latin typeface="Verdana"/>
                <a:cs typeface="Verdana"/>
              </a:rPr>
              <a:t>YOU</a:t>
            </a:r>
            <a:endParaRPr sz="3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140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MT</vt:lpstr>
      <vt:lpstr>Calibri</vt:lpstr>
      <vt:lpstr>Trebuchet MS</vt:lpstr>
      <vt:lpstr>Verdana</vt:lpstr>
      <vt:lpstr>Wingdings</vt:lpstr>
      <vt:lpstr>Office Theme</vt:lpstr>
      <vt:lpstr>General Instructions</vt:lpstr>
      <vt:lpstr>Predicting Credit Card Limit Using Linear Regression</vt:lpstr>
      <vt:lpstr>Problem Statement</vt:lpstr>
      <vt:lpstr>PowerPoint Presentation</vt:lpstr>
      <vt:lpstr>Task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Aivarajan Nagarajan</cp:lastModifiedBy>
  <cp:revision>6</cp:revision>
  <dcterms:created xsi:type="dcterms:W3CDTF">2025-10-31T12:01:38Z</dcterms:created>
  <dcterms:modified xsi:type="dcterms:W3CDTF">2025-11-19T06:21:47Z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2025-10-31T00:00:00Z</vt:filetime>
  </property>
  <property fmtid="{D5CDD505-2E9C-101B-9397-08002B2CF9AE}" pid="5" name="Producer">
    <vt:lpwstr>www.ilovepdf.com</vt:lpwstr>
  </property>
</Properties>
</file>