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e52072272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ee52072272_0_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e52072272_0_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e5207227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ee52072272_0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e52072272_0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e52072272_0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ee52072272_0_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e52072272_0_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75" y="32000"/>
            <a:ext cx="9144000" cy="5079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47472" y="77724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Credit Limit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Prediction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47472" y="28346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What determines how much credit limit a bank gives?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47472" y="3401568"/>
            <a:ext cx="1280160" cy="45720"/>
          </a:xfrm>
          <a:prstGeom prst="rect">
            <a:avLst/>
          </a:prstGeom>
          <a:solidFill>
            <a:srgbClr val="9DCFDD"/>
          </a:solidFill>
          <a:ln cap="flat" cmpd="sng" w="12700">
            <a:solidFill>
              <a:srgbClr val="9D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347472" y="3547872"/>
            <a:ext cx="3657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Dataset: 30,000 credit card customers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Goal: Build a model that predicts credit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Result: Model explains 47% of variation in limits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0" y="658368"/>
            <a:ext cx="4251960" cy="1298448"/>
          </a:xfrm>
          <a:prstGeom prst="roundRect">
            <a:avLst>
              <a:gd fmla="val 6338" name="adj"/>
            </a:avLst>
          </a:prstGeom>
          <a:solidFill>
            <a:srgbClr val="0D2A3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709160" y="749808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9DCFDD"/>
                </a:solidFill>
                <a:latin typeface="Cambria"/>
                <a:ea typeface="Cambria"/>
                <a:cs typeface="Cambria"/>
                <a:sym typeface="Cambria"/>
              </a:rPr>
              <a:t>30,000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709160" y="135331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CUSTOMERS ANALYSED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4709160" y="1609344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credit card holders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0" y="2139696"/>
            <a:ext cx="4251960" cy="1298448"/>
          </a:xfrm>
          <a:prstGeom prst="roundRect">
            <a:avLst>
              <a:gd fmla="val 6338" name="adj"/>
            </a:avLst>
          </a:prstGeom>
          <a:solidFill>
            <a:srgbClr val="0D2A3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709160" y="2231136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9DCFDD"/>
                </a:solidFill>
                <a:latin typeface="Cambria"/>
                <a:ea typeface="Cambria"/>
                <a:cs typeface="Cambria"/>
                <a:sym typeface="Cambria"/>
              </a:rPr>
              <a:t>25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709160" y="283464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DATA POINTS PER CUSTOMER </a:t>
            </a:r>
            <a:r>
              <a:rPr b="1" lang="en-US" sz="950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IN THE CSV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709160" y="3090672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financial behaviour signals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572000" y="3621024"/>
            <a:ext cx="4251960" cy="1298448"/>
          </a:xfrm>
          <a:prstGeom prst="roundRect">
            <a:avLst>
              <a:gd fmla="val 6338" name="adj"/>
            </a:avLst>
          </a:prstGeom>
          <a:solidFill>
            <a:srgbClr val="0D2A3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27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709160" y="3712464"/>
            <a:ext cx="39776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9DCFDD"/>
                </a:solidFill>
                <a:latin typeface="Cambria"/>
                <a:ea typeface="Cambria"/>
                <a:cs typeface="Cambria"/>
                <a:sym typeface="Cambria"/>
              </a:rPr>
              <a:t>0.47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4709160" y="4315968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MODEL ACCURACY (R²)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4709160" y="4572000"/>
            <a:ext cx="3977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11475" y="144575"/>
            <a:ext cx="9089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Are Credit Limits Spread Across Customers?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11480" y="693215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Understanding the shape of our target variable before building the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56032" y="1115568"/>
            <a:ext cx="4114800" cy="3767328"/>
          </a:xfrm>
          <a:prstGeom prst="roundRect">
            <a:avLst>
              <a:gd fmla="val 2184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02336" y="1188720"/>
            <a:ext cx="38221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Credit Limit Distribution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481328"/>
            <a:ext cx="4005072" cy="181051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402336" y="3310128"/>
            <a:ext cx="3822192" cy="1444752"/>
          </a:xfrm>
          <a:prstGeom prst="roundRect">
            <a:avLst>
              <a:gd fmla="val 4430" name="adj"/>
            </a:avLst>
          </a:prstGeom>
          <a:solidFill>
            <a:srgbClr val="EEF6FA"/>
          </a:solidFill>
          <a:ln cap="flat" cmpd="sng" w="12700">
            <a:solidFill>
              <a:srgbClr val="9D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30352" y="33832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📊  What this tells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30350" y="3675900"/>
            <a:ext cx="3694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Most customers</a:t>
            </a: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have limits below ₹200,000. A small group has very high limits — creating a skewed, uneven distribution.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 on model: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applied a log transformation to make the data more balanced, which helps the model learn patterns more accurately.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617720" y="1115568"/>
            <a:ext cx="4251960" cy="3767328"/>
          </a:xfrm>
          <a:prstGeom prst="roundRect">
            <a:avLst>
              <a:gd fmla="val 2184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754880" y="1188720"/>
            <a:ext cx="3977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Feature Correlation Heat</a:t>
            </a:r>
            <a:r>
              <a:rPr b="1" lang="en-US" sz="125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481328"/>
            <a:ext cx="4160520" cy="2212848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4754880" y="3721608"/>
            <a:ext cx="3977640" cy="1033272"/>
          </a:xfrm>
          <a:prstGeom prst="roundRect">
            <a:avLst>
              <a:gd fmla="val 6195" name="adj"/>
            </a:avLst>
          </a:prstGeom>
          <a:solidFill>
            <a:srgbClr val="EEF6FA"/>
          </a:solidFill>
          <a:ln cap="flat" cmpd="sng" w="12700">
            <a:solidFill>
              <a:srgbClr val="9D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4882896" y="3785616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📊  What this tells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882896" y="4006801"/>
            <a:ext cx="3749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single factor</a:t>
            </a: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strongly predicts a customer's limit on its own. The information is spread across many variables.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Impact on model: </a:t>
            </a: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had to combine multiple signals together rather than relying on any one factor.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11480" y="9144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Education Level Affect Your Credit Limit?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Comparing credit limits across education and marital status groups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56032" y="1115568"/>
            <a:ext cx="8631936" cy="2176272"/>
          </a:xfrm>
          <a:prstGeom prst="roundRect">
            <a:avLst>
              <a:gd fmla="val 3782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161288"/>
            <a:ext cx="8540496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256032" y="3401568"/>
            <a:ext cx="2798064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384048" y="3474720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🎓  Graduates get more credit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84048" y="3803904"/>
            <a:ext cx="25420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Customers with graduate-school education have noticeably higher credit limits on average. Banks associate higher education with higher earning potential and lower risk.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18688" y="3401568"/>
            <a:ext cx="2798064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346704" y="3474720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💡  Marital status has some effect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346704" y="3803904"/>
            <a:ext cx="25420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Single customers tend to have slightly higher limits than married ones though the difference is smaller than education. This may reflect age or income patterns.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181344" y="3401568"/>
            <a:ext cx="2798064" cy="1572768"/>
          </a:xfrm>
          <a:prstGeom prst="roundRect">
            <a:avLst>
              <a:gd fmla="val 523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309360" y="3474720"/>
            <a:ext cx="2542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⚙️  Impact on the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309360" y="3803904"/>
            <a:ext cx="25420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Education was included using a technique that avoids assuming 'graduate = 3 times better than high school.' The model treats each group fairly and independently.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411480" y="155202"/>
            <a:ext cx="83211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Missing a Payment Hurt Credit Limit?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11480" y="703842"/>
            <a:ext cx="8321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How recent repayment behaviour relates to the credit limit a customer receives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56032" y="1115568"/>
            <a:ext cx="8631936" cy="2514600"/>
          </a:xfrm>
          <a:prstGeom prst="roundRect">
            <a:avLst>
              <a:gd fmla="val 327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" name="Google Shape;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161288"/>
            <a:ext cx="8540496" cy="242316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6"/>
          <p:cNvSpPr/>
          <p:nvPr/>
        </p:nvSpPr>
        <p:spPr>
          <a:xfrm>
            <a:off x="256032" y="3730752"/>
            <a:ext cx="2798064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384048" y="379476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 On-time payers are rewarded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84048" y="4105656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Customers who pay early (-2) or on time (0) consistently receive the highest credit limits. Banks reward reliable behaviour.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218688" y="3730752"/>
            <a:ext cx="2798064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346704" y="379476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⚠️  Even one missed payment hurts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346704" y="4105656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As soon as a customer delays by even 1 month, their typical credit limit drops sharply. The penalty increases with each additional month of delay.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181344" y="3730752"/>
            <a:ext cx="2798064" cy="1207008"/>
          </a:xfrm>
          <a:prstGeom prst="roundRect">
            <a:avLst>
              <a:gd fmla="val 6818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309360" y="3794760"/>
            <a:ext cx="254203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⚙️  Impact on the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309360" y="4105656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created a 'Payment Behaviour Score' that summarises 6 months of payment history into a single number — one of the most powerful features in the final model.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11480" y="9144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Does Age Play a Role in Credit Limits?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Exploring how age relates to the limit a customer receives — and why it's not a straight 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56032" y="1115568"/>
            <a:ext cx="5029200" cy="3767328"/>
          </a:xfrm>
          <a:prstGeom prst="roundRect">
            <a:avLst>
              <a:gd fmla="val 2184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02336" y="118872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Age vs Credit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463040"/>
            <a:ext cx="4937760" cy="3246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7"/>
          <p:cNvSpPr/>
          <p:nvPr/>
        </p:nvSpPr>
        <p:spPr>
          <a:xfrm>
            <a:off x="5440680" y="1115568"/>
            <a:ext cx="3447288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5577840" y="1207008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📈  Limits grow in your 30s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577840" y="1499616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Customers in their 30s and early 40s tend to carry higher limits. This likely reflects rising incomes and longer credit histories.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40680" y="2377440"/>
            <a:ext cx="3447288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5577840" y="246888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📉  Growth slows after 50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577840" y="2761488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relationship flattens for older customers. A simple straight-line model would miss this — limits don't keep rising with age forever.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40680" y="3639312"/>
            <a:ext cx="3447288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577840" y="373075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⚙️  Impact on the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577840" y="4023360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We added Age² (age squared) so the model could capture this curve — rising limits in younger years, levelling off later. This improved accuracy.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Exploratory Data Analysis - Summary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Key patterns discovered in the raw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320040" y="1344168"/>
            <a:ext cx="256032" cy="25603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338328" y="1316736"/>
            <a:ext cx="219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85800" y="1280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Education &amp; Limits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685800" y="15544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Graduate-school holders receive systematically higher credit limits than university or high-school-educated customers. Education is a meaningful signal.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320040" y="2258568"/>
            <a:ext cx="256032" cy="25603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338328" y="2231136"/>
            <a:ext cx="219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85800" y="2194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Payment Delays Matter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85800" y="24688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Customers with PAY_0 = +1 or +2 (months delayed) show noticeably lower limits. Banks penalise even a single missed payment.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320040" y="3172968"/>
            <a:ext cx="256032" cy="25603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338328" y="3145536"/>
            <a:ext cx="219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685800" y="3108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Age Has Diminishing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685800" y="33832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Older customers tend to have higher limits, but the relationship is nonlinear. AGE² was added to capture this curvature.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20040" y="4087368"/>
            <a:ext cx="256032" cy="256032"/>
          </a:xfrm>
          <a:prstGeom prst="ellipse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38328" y="4059936"/>
            <a:ext cx="2194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685800" y="4023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Bill Size as Proxy for Income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85800" y="4297680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AVG_BILL correlates ~0.28 with LIMIT_BAL, suggesting banks use spending behaviour as an income proxy when setting limits.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4572000" y="123444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 Feature Correlations with LIMIT_BAL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1554480"/>
            <a:ext cx="4297680" cy="338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600"/>
              <a:buFont typeface="Cambria"/>
              <a:buNone/>
            </a:pPr>
            <a:r>
              <a:rPr b="1" i="0" lang="en-US" sz="36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The Core Challenge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Why predicting LIMIT_BAL is hard — and how we overcame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57200" y="1234440"/>
            <a:ext cx="8229600" cy="27432"/>
          </a:xfrm>
          <a:prstGeom prst="rect">
            <a:avLst/>
          </a:prstGeom>
          <a:solidFill>
            <a:srgbClr val="9DCFDD"/>
          </a:solidFill>
          <a:ln cap="flat" cmpd="sng" w="12700">
            <a:solidFill>
              <a:srgbClr val="9DCF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320040" y="1417320"/>
            <a:ext cx="2651760" cy="338328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0DF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320040" y="1417320"/>
            <a:ext cx="2651760" cy="502920"/>
          </a:xfrm>
          <a:prstGeom prst="roundRect">
            <a:avLst>
              <a:gd fmla="val 18182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320040" y="1737360"/>
            <a:ext cx="2651760" cy="2286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11480" y="14630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29768" y="20116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No Strong Single Predictor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29768" y="2578608"/>
            <a:ext cx="2423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The highest individual feature correlation with LIMIT_BAL is only ~0.30 (PAY columns). Raw features alone top out at R² = 0.36.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200400" y="1417320"/>
            <a:ext cx="2651760" cy="338328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0DF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200400" y="1417320"/>
            <a:ext cx="2651760" cy="502920"/>
          </a:xfrm>
          <a:prstGeom prst="roundRect">
            <a:avLst>
              <a:gd fmla="val 18182" name="adj"/>
            </a:avLst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200400" y="1737360"/>
            <a:ext cx="2651760" cy="2286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3291840" y="14630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310128" y="20116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Distributed Signal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310128" y="2578608"/>
            <a:ext cx="2423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Information is spread thin across 6 months each of PAY, BILL_AMT, and PAY_AMT columns. Individual columns are weak; combined they are powerful.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080760" y="1417320"/>
            <a:ext cx="2651760" cy="3383280"/>
          </a:xfrm>
          <a:prstGeom prst="roundRect">
            <a:avLst>
              <a:gd fmla="val 3448" name="adj"/>
            </a:avLst>
          </a:prstGeom>
          <a:solidFill>
            <a:srgbClr val="FFFFFF"/>
          </a:solidFill>
          <a:ln cap="flat" cmpd="sng" w="12700">
            <a:solidFill>
              <a:srgbClr val="D0DF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080760" y="1417320"/>
            <a:ext cx="2651760" cy="502920"/>
          </a:xfrm>
          <a:prstGeom prst="roundRect">
            <a:avLst>
              <a:gd fmla="val 18182" name="adj"/>
            </a:avLst>
          </a:prstGeom>
          <a:solidFill>
            <a:srgbClr val="5B7B8E"/>
          </a:solidFill>
          <a:ln cap="flat" cmpd="sng" w="12700">
            <a:solidFill>
              <a:srgbClr val="5B7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6080760" y="1737360"/>
            <a:ext cx="2651760" cy="228600"/>
          </a:xfrm>
          <a:prstGeom prst="rect">
            <a:avLst/>
          </a:prstGeom>
          <a:solidFill>
            <a:srgbClr val="5B7B8E"/>
          </a:solidFill>
          <a:ln cap="flat" cmpd="sng" w="12700">
            <a:solidFill>
              <a:srgbClr val="5B7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6172200" y="1463040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190488" y="201168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Skewed, Discrete Target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190488" y="2578608"/>
            <a:ext cx="24231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LIMIT_BAL clusters at round multiples of 10,000 and is right-skewed, adding structural noise to regression predictions.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0D1B2A"/>
                </a:solidFill>
                <a:latin typeface="Cambria"/>
                <a:ea typeface="Cambria"/>
                <a:cs typeface="Cambria"/>
                <a:sym typeface="Cambria"/>
              </a:rPr>
              <a:t>Feature Engineering Strategy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457200" y="850392"/>
            <a:ext cx="8229600" cy="27432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Six layers of engineered features transformed a weak raw dataset into a predictive model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20040" y="137160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411480" y="146304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11480" y="18105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Bill &amp; Payment Aggregates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11480" y="215798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AVG_BILL, MAX_BILL, TOTAL_BILL, AVG_PAID, TOTAL_PAID, BILL_TREND — compressed 6 months into summary statistics.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3200400" y="137160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291840" y="146304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291840" y="18105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Payment Ratios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291840" y="215798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Per-month payment-to-bill ratios (RATIO_1–6), AVG_UTIL, TOTAL_UTIL — how much of each bill was actually paid back.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080760" y="137160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6172200" y="146304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172200" y="181051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Log Transforms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172200" y="215798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log1p applied to all 6 PAY_AMT columns to linearise the heavy right-skew from occasional large lump-sum payments.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20040" y="315468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11480" y="324612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11480" y="3593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AGE Nonlinearity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11480" y="394106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AGE² added to capture the diminishing returns of age on credit limits — the relationship flattens after ~40.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3200400" y="315468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3291840" y="324612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291840" y="3593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Calculated Credit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291840" y="394106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A 0–100 score: 50% from repayment behaviour (prompt vs. delayed), 50% from average payment-to-bill ratio.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6080760" y="3154680"/>
            <a:ext cx="2697480" cy="1600200"/>
          </a:xfrm>
          <a:prstGeom prst="roundRect">
            <a:avLst>
              <a:gd fmla="val 4571" name="adj"/>
            </a:avLst>
          </a:prstGeom>
          <a:solidFill>
            <a:srgbClr val="FFFFFF"/>
          </a:solidFill>
          <a:ln cap="flat" cmpd="sng" w="12700">
            <a:solidFill>
              <a:srgbClr val="C8DC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6172200" y="3246120"/>
            <a:ext cx="411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6172200" y="3593592"/>
            <a:ext cx="2514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Polynomial Degree-2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6172200" y="3941064"/>
            <a:ext cx="2514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Degree-2 expansion on 16 key features (153 terms). This single step added +0.04 R² — the largest gain in the pipeline.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411480" y="9144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Building Better Signals from Raw 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How combining raw data points into smarter features dramatically improved our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256032" y="1115568"/>
            <a:ext cx="5029200" cy="3767328"/>
          </a:xfrm>
          <a:prstGeom prst="roundRect">
            <a:avLst>
              <a:gd fmla="val 2184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02336" y="118872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Raw vs Engineered Feature Strength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402336" y="1463040"/>
            <a:ext cx="47365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Red = original data columns  ·  Blue = features we created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7" name="Google Shape;2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719072"/>
            <a:ext cx="493776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1"/>
          <p:cNvSpPr/>
          <p:nvPr/>
        </p:nvSpPr>
        <p:spPr>
          <a:xfrm>
            <a:off x="5440680" y="1115568"/>
            <a:ext cx="3447288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5577840" y="1207008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🔴  Raw data alone isn't enough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577840" y="1499616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Individual monthly billing columns (BILL_AMT1, BILL_AMT2...) each had weak relationships with credit limits. No single month tells the full story.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5440680" y="2377440"/>
            <a:ext cx="3447288" cy="11430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5577840" y="2468880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🔵  Combined signals are much stronger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5577840" y="2761488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When we combined spending across all 6 months (CS×BILL, TOTAL_PAID, MAX_BILL), those new features became the strongest predictors in the model.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5440675" y="3639299"/>
            <a:ext cx="3447300" cy="1243500"/>
          </a:xfrm>
          <a:prstGeom prst="roundRect">
            <a:avLst>
              <a:gd fmla="val 72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5577840" y="373075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⚙️  Impact on the model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5577840" y="4023360"/>
            <a:ext cx="31821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Feature engineering lifted model accuracy from R² = 0.36 to 0.47 — a 30% relative improvement. The engineered features, not the raw data, drive most of the model's predictive power.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276304" y="74400"/>
            <a:ext cx="9681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 Credit Score: Summarising Payment Behaviour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A 0–100 score that summarises 6 months of payment behaviour — created specifically for this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256025" y="1115575"/>
            <a:ext cx="8631900" cy="402300"/>
          </a:xfrm>
          <a:prstGeom prst="roundRect">
            <a:avLst>
              <a:gd fmla="val 11111" name="adj"/>
            </a:avLst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384048" y="1100737"/>
            <a:ext cx="83760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Score  =  50 points from payment history  +  50 points from how much of each bill was paid 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256032" y="1598216"/>
            <a:ext cx="4160400" cy="2670000"/>
          </a:xfrm>
          <a:prstGeom prst="roundRect">
            <a:avLst>
              <a:gd fmla="val 3082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402336" y="1671368"/>
            <a:ext cx="3858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Score Distribution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9" name="Google Shape;22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945688"/>
            <a:ext cx="4069080" cy="2212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2"/>
          <p:cNvSpPr/>
          <p:nvPr/>
        </p:nvSpPr>
        <p:spPr>
          <a:xfrm>
            <a:off x="4572000" y="1598216"/>
            <a:ext cx="4316100" cy="2670000"/>
          </a:xfrm>
          <a:prstGeom prst="roundRect">
            <a:avLst>
              <a:gd fmla="val 3082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718304" y="1671368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Score vs Credit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2" name="Google Shape;2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945688"/>
            <a:ext cx="4224527" cy="2212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256025" y="4562824"/>
            <a:ext cx="2798100" cy="4938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384048" y="4327178"/>
            <a:ext cx="254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📊  Most score in the middle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84200" y="4547991"/>
            <a:ext cx="254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Spikes at 0 and 100 = extreme cases (habitual late payers vs. perfect payers). Most cluster around 40–60.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218700" y="4562824"/>
            <a:ext cx="2798100" cy="4938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3346717" y="4327178"/>
            <a:ext cx="254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📈  Higher score = higher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346717" y="4591844"/>
            <a:ext cx="25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Customers who score well tend to have higher limits. Not perfect, but the trend is clear.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6181350" y="4562824"/>
            <a:ext cx="2798100" cy="4938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309410" y="4327178"/>
            <a:ext cx="25419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⚙️  Impact on the model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309360" y="4528081"/>
            <a:ext cx="254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This score, combined with average spending, became the strongest predictor — beating every original data column.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F6F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411480" y="9144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How Well Does the Model Predict Credit Limits?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OLS Linear Regression results — each dot is one customer's actual vs. predicted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256032" y="1115568"/>
            <a:ext cx="2029968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347472" y="118872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Model Accuracy (R²)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347472" y="142646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0.47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347472" y="18105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2441448" y="1115568"/>
            <a:ext cx="2029968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2532888" y="118872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Consistency (CV R²)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2532888" y="142646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0.46 ± 0.01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2532888" y="18105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Stable across all test groups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4626864" y="1115568"/>
            <a:ext cx="2029968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"/>
          <p:cNvSpPr/>
          <p:nvPr/>
        </p:nvSpPr>
        <p:spPr>
          <a:xfrm>
            <a:off x="4718304" y="118872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Avg Prediction Error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718304" y="142646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~₹92,000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4718304" y="18105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RMSE on unseen customers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6812280" y="1115568"/>
            <a:ext cx="2029968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6903720" y="1188720"/>
            <a:ext cx="184708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Typical Error (MAE)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903720" y="1426464"/>
            <a:ext cx="18470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A1A2E"/>
                </a:solidFill>
                <a:latin typeface="Cambria"/>
                <a:ea typeface="Cambria"/>
                <a:cs typeface="Cambria"/>
                <a:sym typeface="Cambria"/>
              </a:rPr>
              <a:t>~₹67,000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903720" y="1810512"/>
            <a:ext cx="18470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Most predictions within this range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256032" y="2240280"/>
            <a:ext cx="5303520" cy="2670048"/>
          </a:xfrm>
          <a:prstGeom prst="roundRect">
            <a:avLst>
              <a:gd fmla="val 3082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3"/>
          <p:cNvSpPr/>
          <p:nvPr/>
        </p:nvSpPr>
        <p:spPr>
          <a:xfrm>
            <a:off x="402336" y="2313432"/>
            <a:ext cx="499262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Actual vs Predicted Credit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2587752"/>
            <a:ext cx="5212080" cy="223113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3"/>
          <p:cNvSpPr/>
          <p:nvPr/>
        </p:nvSpPr>
        <p:spPr>
          <a:xfrm>
            <a:off x="5705856" y="2240280"/>
            <a:ext cx="3182112" cy="804672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/>
          <p:cNvSpPr/>
          <p:nvPr/>
        </p:nvSpPr>
        <p:spPr>
          <a:xfrm>
            <a:off x="5833872" y="2270924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🎯  The diagonal line = perfect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5833875" y="2458142"/>
            <a:ext cx="3054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Points closer to the red dashed line are accurate predictions. Most low-to-mid range customers are predicted well.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5705856" y="3154680"/>
            <a:ext cx="3182112" cy="804672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5833872" y="3185324"/>
            <a:ext cx="29262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📐  High limits are harder to predict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5833872" y="3376110"/>
            <a:ext cx="292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At very high limits (above ₹500,000), the spread widens. This is expected — high earners have more unique circumstances.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5705856" y="4069080"/>
            <a:ext cx="3182112" cy="804672"/>
          </a:xfrm>
          <a:prstGeom prst="roundRect">
            <a:avLst>
              <a:gd fmla="val 10227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5833872" y="4142232"/>
            <a:ext cx="2926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✅  </a:t>
            </a:r>
            <a:r>
              <a:rPr b="1" lang="en-US" sz="1100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R²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833872" y="4322391"/>
            <a:ext cx="292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 R² of 0.47 means the model explains 47% of why customers have different limits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411480" y="91440"/>
            <a:ext cx="83210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Where Does the Model Struggle?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CFD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9DCFDD"/>
                </a:solidFill>
                <a:latin typeface="Calibri"/>
                <a:ea typeface="Calibri"/>
                <a:cs typeface="Calibri"/>
                <a:sym typeface="Calibri"/>
              </a:rPr>
              <a:t>Analysing prediction errors to understand the model's limitations and what could improve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256032" y="1115568"/>
            <a:ext cx="5029200" cy="3767328"/>
          </a:xfrm>
          <a:prstGeom prst="roundRect">
            <a:avLst>
              <a:gd fmla="val 2184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402336" y="118872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Prediction Errors by Estimated Limit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402336" y="146304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B8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7B8E"/>
                </a:solidFill>
                <a:latin typeface="Calibri"/>
                <a:ea typeface="Calibri"/>
                <a:cs typeface="Calibri"/>
                <a:sym typeface="Calibri"/>
              </a:rPr>
              <a:t>Each dot = one customer. Points above the line = model underestimated. Below = overestimated.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752" y="1737360"/>
            <a:ext cx="4937760" cy="29992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/>
          <p:nvPr/>
        </p:nvSpPr>
        <p:spPr>
          <a:xfrm>
            <a:off x="5440680" y="1115568"/>
            <a:ext cx="3447288" cy="1719072"/>
          </a:xfrm>
          <a:prstGeom prst="roundRect">
            <a:avLst>
              <a:gd fmla="val 4787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5577840" y="1188720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Error Distribution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1444752"/>
            <a:ext cx="3355848" cy="1316736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4"/>
          <p:cNvSpPr/>
          <p:nvPr/>
        </p:nvSpPr>
        <p:spPr>
          <a:xfrm>
            <a:off x="5440680" y="2944368"/>
            <a:ext cx="3447288" cy="1938528"/>
          </a:xfrm>
          <a:prstGeom prst="roundRect">
            <a:avLst>
              <a:gd fmla="val 4245" name="adj"/>
            </a:avLst>
          </a:prstGeom>
          <a:solidFill>
            <a:srgbClr val="FFFFFF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27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4"/>
          <p:cNvSpPr/>
          <p:nvPr/>
        </p:nvSpPr>
        <p:spPr>
          <a:xfrm>
            <a:off x="5577840" y="3017520"/>
            <a:ext cx="31821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Top Factors in the Model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5" name="Google Shape;2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0" y="3273552"/>
            <a:ext cx="3355848" cy="151790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4"/>
          <p:cNvSpPr/>
          <p:nvPr/>
        </p:nvSpPr>
        <p:spPr>
          <a:xfrm>
            <a:off x="256032" y="4846320"/>
            <a:ext cx="8631936" cy="201168"/>
          </a:xfrm>
          <a:prstGeom prst="roundRect">
            <a:avLst>
              <a:gd fmla="val 22727" name="adj"/>
            </a:avLst>
          </a:prstGeom>
          <a:solidFill>
            <a:srgbClr val="EEF6FA"/>
          </a:solidFill>
          <a:ln cap="flat" cmpd="sng" w="12700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